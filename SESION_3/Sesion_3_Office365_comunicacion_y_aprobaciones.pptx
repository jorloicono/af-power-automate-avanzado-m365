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§5.3.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§5.4.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§5.5.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§5.6.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§5.7.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correcta: B.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correcta: B.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Shape 1"/>
          <p:cNvSpPr/>
          <p:nvPr/>
        </p:nvSpPr>
        <p:spPr>
          <a:xfrm>
            <a:off x="7958881" y="1143000"/>
            <a:ext cx="3193198" cy="4572000"/>
          </a:xfrm>
          <a:prstGeom prst="roundRect">
            <a:avLst>
              <a:gd name="adj" fmla="val 3436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assets2/teams_aprobaci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8609" y="1252728"/>
            <a:ext cx="2973742" cy="43525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914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AVANZADO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417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C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365: comunicación y aprobaciones con Teams y Outlook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343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del correo y de los buzones compartidos, mensajes y tarjetas en Teams, y procesos de aprobación.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989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 · 3 demos guiadas · 2 prácticas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SESIÓN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buzón a la decisión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680960"/>
                <a:gridCol w="146304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Repaso de la Sesión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A · Automatización de Outlook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D3.1 · Outlook y buzones compartidos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6C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P3.1 · Buzón inteligente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Descanso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B · Comunicación con Teams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D3.2 · Teams y tarjetas adaptables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6C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C · Aprobaciones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D3.3 · Aprobaciones avanzadas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6C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P3.2 · Aprobación de compras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vimos en la Sesión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Inicializar, establecer, incrementar y anexar.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anidadas y Switch.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Bucles y datos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matriz antes de Aplicar a cada uno.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Ámbitos Try, Catch y Finally.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0F6CBD"/>
          </a:solidFill>
          <a:ln w="25400">
            <a:solidFill>
              <a:srgbClr val="7FB3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 de Outlook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las reglas de Outlook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Desencadenadores y acciones de correo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Buzones compartidos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 desencadenador y bucles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inteligente del correo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7607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condicional avanzada: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clave, remitente, adjuntos, importancia.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otros servicios: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Teams, SharePoint, Planner.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Buzones compartidos: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soporte@ o compras@ sin depender de una persona.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y enrutar: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correo a su responsable.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2876062"/>
            <a:ext cx="4937760" cy="2020275"/>
          </a:xfrm>
          <a:prstGeom prst="roundRect">
            <a:avLst>
              <a:gd name="adj" fmla="val 5431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2/outloo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48" y="2985790"/>
            <a:ext cx="4718304" cy="180081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 OFFICE 365 OUTLOOK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más se usa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12064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Desencadenador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Cuando llega un nuevo correo electrónico (V3)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Buzón personal, con filtros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Desencadenador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Cuando llega un nuevo correo a un buzón compartido (V2)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Buzones de equipo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 · Responder (V3) · Reenviar (V2)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Mover · Marcar como leído · Marcar con marca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Organizar la bandeja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 desde un buzón compartido (V2)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permiso Enviar como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evento · Obtener vista de calendario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Condiciones de desencadenador contra los bucles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flujo responde o reenvía desde el mismo buzón: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dispararse a sí mismo sin fin.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condición se evalúa antes de ejecutar: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consume ejecuciones.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siempre con toLower: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«Factura» y «FACTURA» deben ser lo mismo.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F1B2A"/>
          </a:solidFill>
          <a:ln w="12700">
            <a:solidFill>
              <a:srgbClr val="0F1B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0896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@and(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not(startsWith(toLower(triggerOutputs()?['body/subject']), 're:')),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not(startsWith(toLower(triggerOutputs()?['body/subject']), 'rv:')),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not(startsWith(toLower(triggerOutputs()?['body/subject']), 'fw:'))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D3.1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Outlook y buzones compartidos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· buzón personal y buzón compartido de pruebas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del desencadenador V3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de desencadenador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Responder, reenviar y mover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Desencadenador y envío desde buzón compartido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Provocar un bucle, verlo en el historial y desactivarlo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Mensaje clave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en el desencadenador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anti-bucle siempre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Buzón compartido: permisos Enviar como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P3.1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Buzón inteligente: clasificar correos y avisar en Teams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minutos · Archivo: DATOS/Log_Correos.xlsx · Guía: SESION_3/PRACTICAS/P3.1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Desencadenador con filtro [Operaciones] y condición anti-bucle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con toLower, contains e if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de responsables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Excel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Reenvío, aviso en Teams y acuse de recibo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esperado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correos, cuatro ejecuciones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correctas sin importar mayúsculas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ejecución por las respuestas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6C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64592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Descanso · 10 minutos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2062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vuelta: Teams como centro de avisos y el conector Aprobaciones.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0F6CBD"/>
          </a:solidFill>
          <a:ln w="25400">
            <a:solidFill>
              <a:srgbClr val="7FB3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Comunicación con Teams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en canal y en chat con el bot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Menciones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adaptables interactivas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la respuesta del usuario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centro de notificaciones del equipo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Mensaje en canal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que interesan a todo el equipo: nueva incidencia, proyecto asignado.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con el bot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personales: tu solicitud se ha aprobado, tienes una tarea.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👤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Menciones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@mention token para un usuario y llamar su atención en el canal.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▦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Tarjetas adaptables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con campos y botones; el flujo puede esperar la respuesta.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ADAPTABLES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Mensajes interactivos en JSON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diseñan en adaptivecards.io/designer: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para Teams.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tarjeta adaptable y esperar una respuesta: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se detiene hasta que alguien responde.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trae los campos y el botón pulsado.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0F1B2A"/>
          </a:solidFill>
          <a:ln w="12700">
            <a:solidFill>
              <a:srgbClr val="0F1B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089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"type": "AdaptiveCard", "version": "1.4",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"body": [ { "type": "TextBlock", "text": "¿Necesitas algo más?"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 "type": "Input.Text", "id": "detalle", "isMultiline": true } 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"actions": [ { "type": "Action.Submit", "title": "Enviar" } ] }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D3.2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y tarjetas adaptables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· canal del curso y chat con el bot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en canal y en chat con el bot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Mención con @mention token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tarjeta en adaptivecards.io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tarjeta y esperar respuesta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respuesta en el historial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prácticas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para el equipo, chat para la persona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convertir todo en aviso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espera en las tarjetas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0F6CBD"/>
          </a:solidFill>
          <a:ln w="25400">
            <a:solidFill>
              <a:srgbClr val="7FB3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Aprobaciones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conector Aprobaciones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aprobación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Secuenciales y paralelas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Responder, reasignar y hacer seguimiento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APROBACIÓN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decide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56904"/>
            <a:ext cx="5394960" cy="2138553"/>
          </a:xfrm>
          <a:prstGeom prst="roundRect">
            <a:avLst>
              <a:gd name="adj" fmla="val 5131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assets2/tipos_aprob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730056"/>
            <a:ext cx="5248656" cy="19922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61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en responder · Todos deben aprobar · Respuestas personalizadas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14921" y="1508760"/>
            <a:ext cx="5000958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assets2/niveles_aproba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073" y="1581912"/>
            <a:ext cx="4854654" cy="42885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17920" y="5961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Aprobaciones de varios niveles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EXPERIENCIA DEL APROBADOR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Responder desde donde esté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914781"/>
            <a:ext cx="3505200" cy="1622798"/>
          </a:xfrm>
          <a:prstGeom prst="roundRect">
            <a:avLst>
              <a:gd name="adj" fmla="val 6762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assets2/correo_aprob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987933"/>
            <a:ext cx="3358896" cy="14764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61888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en Outlook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42603" y="1508760"/>
            <a:ext cx="3076314" cy="4434840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assets2/teams_aprobacion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755" y="1581912"/>
            <a:ext cx="2930010" cy="42885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28160" y="5961888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Aprobaciones en Teams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107680" y="3043628"/>
            <a:ext cx="3505200" cy="1365103"/>
          </a:xfrm>
          <a:prstGeom prst="roundRect">
            <a:avLst>
              <a:gd name="adj" fmla="val 8038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/home/claude/assets2/reasign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832" y="3116780"/>
            <a:ext cx="3358896" cy="121879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07680" y="5961888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Reasignar a otra persona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DETALLES QUE IMPORTAN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viene en la documentación rápida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saber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valor interno es Approve o Reject, en inglés, aunque la interfaz esté en español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Comentarios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 en responses: first(outputs('Aprobación')?['body/responses'])?['comments']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flujo queda detenido; máximo 30 días por ejecución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espera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la configuración de la acción, en formato ISO 8601 (P3D, PT4H)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Solicitante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Creado por del desencadenador; Obtener mi perfil devuelve al propietario del flujo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 las aprobaciones quedan en la app Aprobaciones de Teams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D3.3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Aprobaciones avanzadas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· Teams, Outlook y app móvil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personalizadas con tres opciones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en Teams, Outlook y móvil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sobre el resultado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deben aprobar y la matriz responses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y reasignación en Teams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espera en ISO 8601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98080" y="2166978"/>
            <a:ext cx="4114800" cy="3987084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2/lab_iniciar_aprob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2276706"/>
            <a:ext cx="3895344" cy="376762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P3.2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Solicitud de compra con aprobación en Teams y Outlook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minutos · Guía: SESION_3/PRACTICAS/P3.2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solicitudes en SharePoint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Aprobador dinámico con coalesce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del responsable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aprobación de dirección si supera 1.000 €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estado y comentarios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por Teams y correo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98080" y="3086023"/>
            <a:ext cx="4114800" cy="2148993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2/lab_condicion_appro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3195751"/>
            <a:ext cx="3895344" cy="192953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LO APRENDIDO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aprobación siempre sigue la rama de rechazo. ¿Qué revisas?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854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854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licencia del aprobador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998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998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971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 condición compare con Approve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142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142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86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Teams esté abierto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9286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9286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00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desencadenador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LO APRENDIDO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flujo responde a cada correo y se ejecuta sin parar. ¿Qué falta?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854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854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directiva de reintentos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998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998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971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condición de desencadenador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142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142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86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ámbito Catch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9286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9286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00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simultaneidad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te llevas hoy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0F6CBD"/>
          </a:solidFill>
          <a:ln w="19050">
            <a:solidFill>
              <a:srgbClr val="7FB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659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automatizado con filtros, buzones compartidos y condiciones anti-bucle.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rgbClr val="0F6CBD"/>
          </a:solidFill>
          <a:ln w="19050">
            <a:solidFill>
              <a:srgbClr val="7FB3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260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para avisar a la persona correcta, con menciones y tarjetas adaptables.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640080" cy="640080"/>
          </a:xfrm>
          <a:prstGeom prst="ellipse">
            <a:avLst/>
          </a:prstGeom>
          <a:solidFill>
            <a:srgbClr val="0F6CBD"/>
          </a:solidFill>
          <a:ln w="19050">
            <a:solidFill>
              <a:srgbClr val="7FB3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8862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Aprobaciones de uno o varios niveles, con Approve en inglés y el solicitante en Creado por.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0F6CB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Planner, planificación de proyectos y el caso práctico final integrador.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3 · Office 365: comunicación y aprobaciones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Curso Power Automate avanzado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3 · Office 365, comunicación y aprobaciones</dc:title>
  <dc:subject>PptxGenJS Presentation</dc:subject>
  <dc:creator>Jorge</dc:creator>
  <cp:lastModifiedBy>Jorge</cp:lastModifiedBy>
  <cp:revision>1</cp:revision>
  <dcterms:created xsi:type="dcterms:W3CDTF">2026-09-22T06:35:24Z</dcterms:created>
  <dcterms:modified xsi:type="dcterms:W3CDTF">2026-09-22T06:35:24Z</dcterms:modified>
</cp:coreProperties>
</file>