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§3.1.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Apunta las tareas repetitivas: serán los ejemplos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§3.3.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curso usa solo conectores estándar e integrados.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§3.4.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§3.5.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§3.6.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§3.7.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correcta: B.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correcta: B.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3" name="Shape 1"/>
          <p:cNvSpPr/>
          <p:nvPr/>
        </p:nvSpPr>
        <p:spPr>
          <a:xfrm>
            <a:off x="7269480" y="1143000"/>
            <a:ext cx="457200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assets2/pp_circu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1252728"/>
            <a:ext cx="4352544" cy="43525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914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AVANZADO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417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C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 a Power Automate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343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flujos, tipos de conectores y contenido de un flujo: desencadenadores, acciones, contenido dinámico y expresiones.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989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horas · 3 demos guiadas · 2 prácticas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SESIÓN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tipos de flujo en tres horas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680960"/>
                <a:gridCol w="146304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Bienvenida y presentación del curso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A · Qué es Power Automate y tipos de flujo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D1.1 · Recorrido por Power Automate y Copilot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6C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B · Conectores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D1.2 · Anatomía de un flujo desde plantilla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6C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P1.1 · Flujo instantáneo con entradas y SharePoint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Descanso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C · Contenido de un flujo y expresiones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D1.3 · Expresiones y contenido dinámico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6C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P1.2 · Plantillas, flujos programados y expresiones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empezar, nos conocemos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nombre y tu área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qué herramientas de Microsoft 365 usas cada día.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Experiencia con Power Automate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Ninguna, he usado plantillas o ya he creado flujos.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tarea repetitiva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haces cada semana y te gustaría que se hiciera solo.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5256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esperas del curso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retomaremos en el cierre de la Sesión 4.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CURSO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sesiones de lo básico a una solución completa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flujo, conectores, desencadenadores, acciones y expresiones.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Lógica y datos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condiciones, bucles, errores y almacenamiento.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 365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Outlook, Teams, tarjetas adaptables y aprobaciones.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5256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Planner, planificación de proyectos y caso final integrador.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0F6CBD"/>
          </a:solidFill>
          <a:ln w="25400">
            <a:solidFill>
              <a:srgbClr val="7FB3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 Power Automate y tipos de flujo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089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dentro de Power Platform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puede automatizar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nube: automatizados, instantáneos y programados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escritorio y Copilot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Flujos de trabajo entre tus aplicaciones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7223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Power Platform: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tareas entre aplicaciones y servicios.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poco código: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diseña en un editor visual y se ajusta con expresiones.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1.000 conectores: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365, SAP, Salesforce, Dropbox y muchos más.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todos: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un botón en el móvil hasta procesos de toda la empresa.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38160" y="2148840"/>
            <a:ext cx="347472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2/power_autom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7888" y="2258568"/>
            <a:ext cx="3255264" cy="32552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 TÍPICOS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puedo hacer con Power Automate?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al instante de correos importantes o cambios en una lista.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Sincronizar datos y archivos: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adjuntos en OneDrive, copiar filas entre sistemas.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Recoger datos: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Forms, correos o listas hacia Excel o SharePoint.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Aprobaciones: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vacaciones, compras, documentos.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periódicos: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lunes, un resumen al equipo.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2407384"/>
            <a:ext cx="4206240" cy="2957632"/>
          </a:xfrm>
          <a:prstGeom prst="roundRect">
            <a:avLst>
              <a:gd name="adj" fmla="val 3710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2/que_puedo_hac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2517112"/>
            <a:ext cx="3986784" cy="2738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FLUJO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pone en marcha el flujo?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93192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ejecuta…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Automatizado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Cuando ocurre un evento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Llega un correo con factura → se guarda el adjunto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Instantáneo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pulsar un botón (móvil, Teams, app)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Informar de un desperfecto con una foto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una fecha y hora o cada cierto tiempo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día a las 8:00, resumen de la agenda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escritorio (RPA)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un PC, imitando al usuario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Copiar datos a una aplicación sin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Copilot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Describiendo el flujo en lenguaje natural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«Cuando reciba…, guarda… y avísame en Teams»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INSTANTÁNEOS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botón en el móvil o en el escritorio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1183" y="1508760"/>
            <a:ext cx="2560114" cy="44348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assets2/botones_mov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335" y="1581912"/>
            <a:ext cx="2413810" cy="42885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961888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en la app móvil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328160" y="2464038"/>
            <a:ext cx="3505200" cy="2524283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assets2/fl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312" y="2537190"/>
            <a:ext cx="3358896" cy="237797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28160" y="5961888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físicos Flic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107680" y="2843646"/>
            <a:ext cx="3505200" cy="1765069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/home/claude/assets2/tiemp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832" y="2916798"/>
            <a:ext cx="3358896" cy="161876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107680" y="5961888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Calentamiento opcional: botón del tiempo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D1.1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Recorrido por Power Automate y Copilot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· make.powerautomate.com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entorno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flujos, Crear, Plantillas, Conectores, Soluciones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flujo describiéndolo con Copilot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los pasos y conexiones propuestos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guardar: entender antes de automatizar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498080" y="2739370"/>
            <a:ext cx="4114800" cy="2842301"/>
          </a:xfrm>
          <a:prstGeom prst="roundRect">
            <a:avLst>
              <a:gd name="adj" fmla="val 3861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assets2/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08" y="2849098"/>
            <a:ext cx="3895344" cy="26228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0F6CBD"/>
          </a:solidFill>
          <a:ln w="25400">
            <a:solidFill>
              <a:srgbClr val="7FB3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Conectores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089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conector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Estándar, premium y personalizados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Desencadenadores, acciones y conexiones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Directivas de prevención de pérdida de datos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puente entre el flujo y cada servicio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577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conector envuelve la API de un servicio: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Outlook, Teams, SharePoint, Excel…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 desencadenadores: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que inician el flujo.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acciones: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que el flujo realiza en el servicio.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credenciales con las que el flujo actúa.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92240" y="2398014"/>
            <a:ext cx="5120640" cy="2976372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2/conector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968" y="2507742"/>
            <a:ext cx="4901184" cy="27569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CONECTORES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Estándar, premium y personalizados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Estándar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Outlook, Teams, SharePoint, OneDrive, Excel Online, Forms, Planner, Aprobaciones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Incluida en Microsoft 365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Server, HTTP, Dataverse, Salesforce, Azure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Automate Premium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API de tu propio sistema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Control, variables, operaciones de datos, fecha y hora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Siempre disponibles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Directivas de prevención de pérdida de datos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577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clasifica los conectores: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empresariales, no empresariales y bloqueados.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flujo no puede mezclar grupos: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ejemplo, SharePoint con Dropbox personal.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flujo se suspende por DLP: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aviso indica qué conector incumple.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un proyecto: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las directivas del entorno.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92240" y="2400112"/>
            <a:ext cx="5120640" cy="2972176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2/segurid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968" y="2509840"/>
            <a:ext cx="4901184" cy="2752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D1.2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Anatomía de un flujo desde plantilla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· plantilla de adjuntos de Outlook a OneDrive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flujo desde la plantilla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Desencadenador, bucle y acción de crear archivo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avanzados del desencadenador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dinámico y editor de expresiones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un correo y abrir el historial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Comprobación del flujo, probar y desactivar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498080" y="2524238"/>
            <a:ext cx="4114800" cy="3272563"/>
          </a:xfrm>
          <a:prstGeom prst="roundRect">
            <a:avLst>
              <a:gd name="adj" fmla="val 3353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assets2/plantil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08" y="2633966"/>
            <a:ext cx="3895344" cy="305310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P1.1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primer flujo instantáneo: informe de daños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minutos · Guía: SESION_1/PRACTICAS/P1.1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Calentamiento opcional: botón del tiempo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SharePoint del informe de daños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entradas de seis tipos distintos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elemento y adjuntar la foto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y notificación al responsable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desde el portal y desde el móvil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esperado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 en SharePoint con foto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archivo único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con copia opcional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Sabes leer el historial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6C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64592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Descanso · 10 minutos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2062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vuelta: qué hay dentro de un flujo y cómo transformar datos con expresiones.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0F6CBD"/>
          </a:solidFill>
          <a:ln w="25400">
            <a:solidFill>
              <a:srgbClr val="7FB3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 un flujo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089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Desencadenadores y acciones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dinámico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Expresiones y sus funciones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ejecuciones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Desencadenador, acciones y contenido dinámico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943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desencadenador: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evento que inicia el flujo.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en orden: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una puede usar los datos de las anteriores.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dinámico: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 de pasos anteriores listas para insertar.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Integradas: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control, variables, operaciones de datos, fecha y hora.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2600118"/>
            <a:ext cx="4754880" cy="2572165"/>
          </a:xfrm>
          <a:prstGeom prst="roundRect">
            <a:avLst>
              <a:gd name="adj" fmla="val 4266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2/flujo_paso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2709846"/>
            <a:ext cx="4535424" cy="235270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EXPRESIONES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Transformar datos con funciones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con comas y comillas simples: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dependen del idioma.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anidan: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salida de una función es la entrada de otra.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dinámico dentro: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selecciónalo para obtener el nombre interno.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6492240" cy="2011680"/>
          </a:xfrm>
          <a:prstGeom prst="roundRect">
            <a:avLst>
              <a:gd name="adj" fmla="val 3636"/>
            </a:avLst>
          </a:prstGeom>
          <a:solidFill>
            <a:srgbClr val="0F1B2A"/>
          </a:solidFill>
          <a:ln w="12700">
            <a:solidFill>
              <a:srgbClr val="0F1B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10896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formatDateTime(utcNow(), 'dd/MM/yyyy')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convertFromUtc(utcNow(), 'Romance Standard Time')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addDays(utcNow(), 15)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concat('SOL-', formatNumber(5, '0000'))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mul(triggerBody()?['number'], 1.21)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if(greater(variables('varImporte'), 1000), 'Alto', 'Bajo')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06640" y="2640621"/>
            <a:ext cx="4206240" cy="2491158"/>
          </a:xfrm>
          <a:prstGeom prst="roundRect">
            <a:avLst>
              <a:gd name="adj" fmla="val 4405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assets2/expresi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2750349"/>
            <a:ext cx="3986784" cy="22717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familias de funciones que más usarás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03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concat, substring, replace, toLower, toUpper, trim, split, length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y hora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utcNow, addDays, addHours, formatDateTime, convertFromUtc, dayOfWeek, startOfMonth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Matemáticas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add, sub, mul, div, mod, min, max, rand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Lógicas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if, equals, and, or, not, greater, less, empty, coalesce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int, float, string, bool, json, array, base64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Colecciones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first, last, length, contains, union, join, take, skip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DEPURACIÓN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historial de ejecuciones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943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días de historial: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ejecución con su estado.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y salidas de cada paso: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recibió y lo que devolvió.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 a enviar: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una ejecución tras corregir el flujo.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Comprobación del flujo: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y avisos antes de guardar.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2600118"/>
            <a:ext cx="4754880" cy="2572165"/>
          </a:xfrm>
          <a:prstGeom prst="roundRect">
            <a:avLst>
              <a:gd name="adj" fmla="val 4266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2/flujo_pas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2709846"/>
            <a:ext cx="4535424" cy="235270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D1.3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Expresiones y contenido dinámico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· flujo instantáneo con número y fecha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con utcNow y convertFromUtc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formatDateTime y el error mm frente a MM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addDays, concat y mul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 greater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interno desde el contenido dinámico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float y string para convertir tipos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que conviene enseñar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Comillas dobles o tipográficas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son minutos, MM son meses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texto con número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P1.2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Plantillas, flujos programados y expresiones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minutos · Guía: SESION_1/PRACTICAS/P1.2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automatizado desde plantilla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del desencadenador y carpeta mensual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programado a las 8:00 hora de Madrid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con fecha en español y días hasta fin de mes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con IVA y formatNumber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498080" y="2631357"/>
            <a:ext cx="4114800" cy="3058326"/>
          </a:xfrm>
          <a:prstGeom prst="roundRect">
            <a:avLst>
              <a:gd name="adj" fmla="val 3588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assets2/recurrenc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08" y="2741085"/>
            <a:ext cx="3895344" cy="283887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LO APRENDIDO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Quieres guardar cada factura que llega por correo. ¿Qué tipo de flujo usas?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854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854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574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Instantáneo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0998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0998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971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0142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0142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886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9286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9286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00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escritorio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LO APRENDIDO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devuelve formatDateTime(utcNow(), 'dd/mm/yyyy')?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854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854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574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fecha de hoy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0998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0998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971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día, los minutos y el año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0142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0142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886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 de sintaxis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9286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9286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00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hora actual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te llevas hoy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0F6CBD"/>
          </a:solidFill>
          <a:ln w="19050">
            <a:solidFill>
              <a:srgbClr val="7FB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9659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tipos de flujo de nube: automatizado, instantáneo y programado.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640080" cy="640080"/>
          </a:xfrm>
          <a:prstGeom prst="ellipse">
            <a:avLst/>
          </a:prstGeom>
          <a:solidFill>
            <a:srgbClr val="0F6CBD"/>
          </a:solidFill>
          <a:ln w="19050">
            <a:solidFill>
              <a:srgbClr val="7FB3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9260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 estándar, premium y personalizados, gobernados por las directivas DLP.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640080" cy="640080"/>
          </a:xfrm>
          <a:prstGeom prst="ellipse">
            <a:avLst/>
          </a:prstGeom>
          <a:solidFill>
            <a:srgbClr val="0F6CBD"/>
          </a:solidFill>
          <a:ln w="19050">
            <a:solidFill>
              <a:srgbClr val="7FB3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8862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flujo es un desencadenador, acciones, contenido dinámico y expresiones.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525780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0F6CB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257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condiciones, bucles, control de errores y almacenamiento de datos.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1 · Introducción a Power Automate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Curso Power Automate avanzado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 · Introducción a Power Automate</dc:title>
  <dc:subject>PptxGenJS Presentation</dc:subject>
  <dc:creator>Jorge</dc:creator>
  <cp:lastModifiedBy>Jorge</cp:lastModifiedBy>
  <cp:revision>1</cp:revision>
  <dcterms:created xsi:type="dcterms:W3CDTF">2026-09-22T06:35:24Z</dcterms:created>
  <dcterms:modified xsi:type="dcterms:W3CDTF">2026-09-22T06:35:24Z</dcterms:modified>
</cp:coreProperties>
</file>